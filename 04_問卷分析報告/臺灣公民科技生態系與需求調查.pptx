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對已在圈子裡的聽眾，這一頁可以整頁刪掉。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誠實補一句：問卷透過 g0v 及相關社群管道發放，回答的人偏向已經對公民科技有一定認識的族群。這份調查描述的是這個圈子與它周邊的樣貌，不是全台灣。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第三、四點來自設有勾選上限的題目，排序的讀法在 S19、S21 會講清楚。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誠實補一句：六成住雙北很可能是取樣造成的，g0v 的實體活動長期集中在台北。不能推論成中南部沒有公民科技社群。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這五個角色之間沒有深淺順序，不是漏斗，只是五種角色各自的普及率。勾了比較深的角色不代表也勾了比較淺的。／誠實補一句：那 46 人裡有 42 人勾的是門檻最低的「使用過某個工具或參與過討論」。「只做一件事」在很大程度上等於「參與還很淺」，未必是分工穩定。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S8 的角色（複選、無順序）與這頁的參與深度（單選、有順序）是兩條不同的軸，不要混用。時間緊時這一頁可與 S8 合併成單頁雙圖，但要口頭保留「兩條軸不同」這句話。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這題評的是「這件事對你造成多大的困擾」，不是「這件事有沒有發生」。不能用平均分比較嚴重程度，因為問卷沒有「沒遇到」選項，1 分混合了「沒發生過」與「發生了但無感」兩種人。完整的十三題分布在 M7。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也可能是選擇效應——會走到決定權大的位置的人，本來就是願意扛比較多的那種人。另外這條線只在表上三種位置成立；更淺的兩種位置（接收資訊 5 人、主動通報 6 人）人數太少、數字上下跳動，接不成一條線。不要把整條五級的線講成一路上升。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誠實補一句：這題問的是「用過哪些」，不是「哪些最難拿到」。用得多也可能只是因為人脈相對容易取得，不代表經費不重要或不稀缺。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這題問的是「在這個專案裡你負責什麼」，不是「你會什麼」。一個會寫程式的人，在那個專案裡也可能主要在做專案管理。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這一頁正好回答 S10 排名第一的困難「專案難有穩定進度」。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誠實補一句：這裡的「留存」指的是同一個人前後兩次都選了同一個動機，不是這個人有沒有留在社群裡。已經完全離開的人不會來填這份問卷，所以社群歸屬感的流失比例反而可能被低估。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誠實補一句：這題問的是已經聽過或看過公民科技、只是還沒實際參與的人，不是完全沒聽過的一般大眾。對後者來說，門檻可能落在完全不同的地方。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這份問卷本身就是透過這些管道發放出去的，所以完全接不到消息的人在真實世界裡只會更多，不會更少。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誠實補一句：這 27 人裡有 26 人自己就在這個圈子裡。問卷透過 g0v 管道發放，撈得到的出資者本來就會是圈內人。這是一群圈內出資者的看法，不代表基金會、企業或政府等圈外資助者怎麼想。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這是這 27 位出資者自己觀察到的難易程度，不是提案端實際的處境。問卷沒有問提案端「你在哪個階段最難找到資源」，無法拿兩邊直接對照。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五個主題的指數差距很小，絕對值不宜精讀，只看相對排序與落在哪一種類型。S24、S25 提到「落地最強」時，指的也只是相對排序。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這一頁最容易被單張截圖轉發，講的時候要把頁角那幾個限制念出來。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補一句：至於「身邊沒有人帶」這一項，資料只告訴我們它是第二大的門檻，沒有告訴我們什麼形式能解決它。真正對應的可能是配對、陪伴、或讓新手有明確任務可以接手的機制，這需要另外設計與驗證，不在這份調查的範圍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這六條是報告第 10 章的重點，完整的 10 條寫在報告裡，引用前建議讀過。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加掛時機是做過專案的貢獻者、社群經營者。這是橫斷面資料，只能說「不同年齡層現在選的理由不一樣」，不能說「某個年齡層被什麼留住了」。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加掛時機是剛開始參與的人、社群經營者。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加掛時機是社群經營者。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加掛時機是社群經營者。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加掛時機是社群經營者。M4 與 M5 的勾選率不能互比，因為選項數與可勾數都不一樣，工具題選項少很多，每個選項本來就比較容易被勾到。另外，這兩份清單問的是閱讀偏好，不是填答者實際投入的領域。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加掛時機是社群經營者。把單一個官方帳號拿來跟親友推薦比，會高估人際管道的份量，所以主線用的是 S20 的互斥四組。這一頁單獨用時務必接著講 S20。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加掛時機是做過專案的貢獻者、社群經營者。S10 只列前五名，這一頁是完整的十三題。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加掛時機是做過專案的貢獻者、社群經營者。願意寫下自己怎麼應對的人本來就可能比較主動，這個分布不能代表全部 47 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加掛時機是出資方、社群經營者，或任何會被追問方法論的場合。這六條出自報告伍、反思〈對立假設〉。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加掛時機是做過專案的貢獻者、社群經營者。這條數列不是一路往下（共創解法是 0，發起專案又回到 1 人），只能說重心偏向淺的位置，不能說它和 S12 那條線正好相反。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civictech.tw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phZqaQMnfN95hMOeWWaxl5mo4ttrkDLNDgDkogZHdX4/edit?tab=t.0" TargetMode="External"/><Relationship Id="rId2" Type="http://schemas.openxmlformats.org/officeDocument/2006/relationships/hyperlink" Target="https://docs.google.com/spreadsheets/d/1Z7am3yalgPbQLureQS0tWTofSKrLJRAI4473pFLErag/edit?usp=sharing" TargetMode="External"/><Relationship Id="rId3" Type="http://schemas.openxmlformats.org/officeDocument/2006/relationships/hyperlink" Target="https://civictech.tw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594670"/>
            <a:ext cx="1143000" cy="9525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" name="Shape 1"/>
          <p:cNvSpPr/>
          <p:nvPr/>
        </p:nvSpPr>
        <p:spPr>
          <a:xfrm>
            <a:off x="2133600" y="2594670"/>
            <a:ext cx="1143000" cy="9525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3505200" y="2594670"/>
            <a:ext cx="1143000" cy="9525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299520"/>
            <a:ext cx="1726692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6600" b="1" spc="66" kern="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臺灣公民科技生態系 與需求調查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62000" y="5776020"/>
            <a:ext cx="1844040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04"/>
              </a:lnSpc>
              <a:buNone/>
            </a:pPr>
            <a:r>
              <a:rPr lang="en-US" sz="24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127 位公民科技參與者、潛在參與者與出資者的回答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7177980"/>
            <a:ext cx="16764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7416105"/>
            <a:ext cx="18440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委託：g0v 揪松團 ｜ 分析：鄭婷宇（Claire） ｜ 2026 年 7 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公民科技是什麼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62000" y="2068711"/>
            <a:ext cx="816254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82"/>
              </a:lnSpc>
              <a:buNone/>
            </a:pPr>
            <a:r>
              <a:rPr lang="en-US" sz="25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用科技和數位工具， 讓公民社會變得更好。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62000" y="3421261"/>
            <a:ext cx="81625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可能是打造一個解決方案，讓大家更容易參與公共事務、更好用公共服務；也可能是串聯社群、推動討論，用科技或開放資料改善政策、提升民主品質。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0" y="2068711"/>
            <a:ext cx="7924800" cy="335458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1725" y="3754636"/>
            <a:ext cx="78581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例子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991725" y="4068961"/>
            <a:ext cx="7858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口罩地圖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91725" y="4659511"/>
            <a:ext cx="735806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Covid-19 期間協助大家找到口罩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0" y="5728097"/>
            <a:ext cx="7924800" cy="335458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91725" y="7414022"/>
            <a:ext cx="78581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例子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991725" y="7728347"/>
            <a:ext cx="7858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vTaiwan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91725" y="8318897"/>
            <a:ext cx="735806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用線上工具讓不同立場的人一起討論政策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這份調查問了誰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2449711"/>
            <a:ext cx="2667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954411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有效樣本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886200" y="2449711"/>
            <a:ext cx="13639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954411"/>
            <a:ext cx="14048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127 份，問卷持續開放填答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62000" y="3145036"/>
            <a:ext cx="2667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649736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回收期間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886200" y="3145036"/>
            <a:ext cx="13639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2649736"/>
            <a:ext cx="14048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 2026 年 7 月 20 日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62000" y="3840361"/>
            <a:ext cx="2667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345061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發放管道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886200" y="3840361"/>
            <a:ext cx="13639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3345061"/>
            <a:ext cx="14048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g0v 及相關社群管道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62000" y="4535686"/>
            <a:ext cx="2667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040386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要回答的兩件事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886200" y="4535686"/>
            <a:ext cx="13639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0" y="4040386"/>
            <a:ext cx="14048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這個圈子 2026 年年中是什麼樣子；接下來的內容該投入在哪裡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2000" y="5002411"/>
            <a:ext cx="18440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這份簡報接下來會一直用到的三個稱呼：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564386"/>
            <a:ext cx="5435501" cy="1381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564386"/>
            <a:ext cx="5435501" cy="762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5907286"/>
            <a:ext cx="53084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還沒接觸的人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66800" y="6374011"/>
            <a:ext cx="53084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 人，只聽過或看過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426101" y="5564386"/>
            <a:ext cx="5435650" cy="1381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6101" y="5564386"/>
            <a:ext cx="5435650" cy="762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6" name="Text 24"/>
          <p:cNvSpPr/>
          <p:nvPr/>
        </p:nvSpPr>
        <p:spPr>
          <a:xfrm>
            <a:off x="6730901" y="5907286"/>
            <a:ext cx="53086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接觸過但還沒做過專案的人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730901" y="6374011"/>
            <a:ext cx="53086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54 人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2090350" y="5564386"/>
            <a:ext cx="5435650" cy="1381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90350" y="5564386"/>
            <a:ext cx="5435650" cy="762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/>
          <p:nvPr/>
        </p:nvSpPr>
        <p:spPr>
          <a:xfrm>
            <a:off x="12395150" y="5907286"/>
            <a:ext cx="53086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做過專案的人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395150" y="6374011"/>
            <a:ext cx="53086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47 人，真的動手參與過至少一個專案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62000" y="7250311"/>
            <a:ext cx="1726692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談「卡住了什麼」「什麼讓人留下來」時，只有做過專案的 47 人答得了，因為那些題目問的是具體的專案經驗。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2000" y="9282113"/>
            <a:ext cx="1726692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之後每頁右下角會標出那一頁的分母；標了「小樣本」表示該組不到 30 人，只能看方向，不能拿來下決策。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先講四個發現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840111"/>
            <a:ext cx="8191500" cy="365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8725" y="339938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136"/>
              </a:lnSpc>
              <a:buNone/>
            </a:pPr>
            <a:r>
              <a:rPr lang="en-US" sz="4200" b="1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66925" y="3199358"/>
            <a:ext cx="433635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拖垮專案的是進度停滯與核心成員累垮，不是找不到夥伴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334500" y="1840111"/>
            <a:ext cx="8191500" cy="365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01225" y="339938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136"/>
              </a:lnSpc>
              <a:buNone/>
            </a:pPr>
            <a:r>
              <a:rPr lang="en-US" sz="4200" b="1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二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639425" y="3199358"/>
            <a:ext cx="433635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四成的人動機換過一輪，流失最多的是對社群的歸屬感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62000" y="5873055"/>
            <a:ext cx="8191500" cy="365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743232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136"/>
              </a:lnSpc>
              <a:buNone/>
            </a:pPr>
            <a:r>
              <a:rPr lang="en-US" sz="4200" b="1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066925" y="7232303"/>
            <a:ext cx="433635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擋住新人的是不知道有哪些專案、身邊沒有人帶，技術門檻只排第四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34500" y="5873055"/>
            <a:ext cx="8191500" cy="365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01225" y="743232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136"/>
              </a:lnSpc>
              <a:buNone/>
            </a:pPr>
            <a:r>
              <a:rPr lang="en-US" sz="4200" b="1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0639425" y="6998940"/>
            <a:ext cx="4336352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想拿到資源，先把問題講清楚；出資端認為「還只有想法」的階段最難找資源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三種人，三種答得了的問題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1627138" y="2177504"/>
            <a:ext cx="6270724" cy="68577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5000" y="4143375"/>
            <a:ext cx="133350" cy="13335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Text 2"/>
          <p:cNvSpPr/>
          <p:nvPr/>
        </p:nvSpPr>
        <p:spPr>
          <a:xfrm>
            <a:off x="9848850" y="3990975"/>
            <a:ext cx="34297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還沒接觸的人 26 人（20%）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9525000" y="4762500"/>
            <a:ext cx="133350" cy="13335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7" name="Text 4"/>
          <p:cNvSpPr/>
          <p:nvPr/>
        </p:nvSpPr>
        <p:spPr>
          <a:xfrm>
            <a:off x="9848850" y="4610100"/>
            <a:ext cx="50642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接觸過但還沒做過專案的人 54 人（43%）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9525000" y="5381625"/>
            <a:ext cx="133350" cy="13335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" name="Text 6"/>
          <p:cNvSpPr/>
          <p:nvPr/>
        </p:nvSpPr>
        <p:spPr>
          <a:xfrm>
            <a:off x="9848850" y="5229225"/>
            <a:ext cx="34297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做過專案的人 47 人（37%）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9525000" y="5962650"/>
            <a:ext cx="7620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0" y="6353175"/>
            <a:ext cx="784860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這三層貫串整份簡報。看到頁角的分母是 47，就是只有做過專案的人回答的題目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795403" y="9477375"/>
            <a:ext cx="806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5" name="Shape 12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身分背景相當分散，沒有一種身分佔到四分之一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0359926" cy="7761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95400" y="3453705"/>
            <a:ext cx="4381500" cy="4381500"/>
          </a:xfrm>
          <a:prstGeom prst="ellipse">
            <a:avLst/>
          </a:prstGeom>
          <a:solidFill>
            <a:srgbClr val="1C5AA8"/>
          </a:solidFill>
          <a:ln/>
        </p:spPr>
      </p:sp>
      <p:sp>
        <p:nvSpPr>
          <p:cNvPr id="5" name="Shape 3"/>
          <p:cNvSpPr/>
          <p:nvPr/>
        </p:nvSpPr>
        <p:spPr>
          <a:xfrm>
            <a:off x="6210300" y="3748980"/>
            <a:ext cx="190500" cy="190500"/>
          </a:xfrm>
          <a:prstGeom prst="rect">
            <a:avLst/>
          </a:prstGeom>
          <a:solidFill>
            <a:srgbClr val="1C5AA8"/>
          </a:solidFill>
          <a:ln/>
        </p:spPr>
      </p:sp>
      <p:sp>
        <p:nvSpPr>
          <p:cNvPr id="6" name="Text 4"/>
          <p:cNvSpPr/>
          <p:nvPr/>
        </p:nvSpPr>
        <p:spPr>
          <a:xfrm>
            <a:off x="6572250" y="3691830"/>
            <a:ext cx="27722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自由工作者 20%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（25/127）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210300" y="4263330"/>
            <a:ext cx="190500" cy="1905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6572250" y="4206180"/>
            <a:ext cx="346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非營利組織工作者 20%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（25/127）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10300" y="4777680"/>
            <a:ext cx="190500" cy="190500"/>
          </a:xfrm>
          <a:prstGeom prst="rect">
            <a:avLst/>
          </a:prstGeom>
          <a:solidFill>
            <a:srgbClr val="5B95DF"/>
          </a:solidFill>
          <a:ln/>
        </p:spPr>
      </p:sp>
      <p:sp>
        <p:nvSpPr>
          <p:cNvPr id="10" name="Text 8"/>
          <p:cNvSpPr/>
          <p:nvPr/>
        </p:nvSpPr>
        <p:spPr>
          <a:xfrm>
            <a:off x="6572250" y="4720530"/>
            <a:ext cx="32332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學校或研究機構 16%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（20/127）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210300" y="5292030"/>
            <a:ext cx="190500" cy="190500"/>
          </a:xfrm>
          <a:prstGeom prst="rect">
            <a:avLst/>
          </a:prstGeom>
          <a:solidFill>
            <a:srgbClr val="8BB3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72250" y="5234880"/>
            <a:ext cx="27722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企業或新創 16%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（20/127）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10300" y="5806380"/>
            <a:ext cx="190500" cy="190500"/>
          </a:xfrm>
          <a:prstGeom prst="rect">
            <a:avLst/>
          </a:prstGeom>
          <a:solidFill>
            <a:srgbClr val="B0CBEF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250" y="5749230"/>
            <a:ext cx="20807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學生 13%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（17/127）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210300" y="6320730"/>
            <a:ext cx="190500" cy="190500"/>
          </a:xfrm>
          <a:prstGeom prst="rect">
            <a:avLst/>
          </a:prstGeom>
          <a:solidFill>
            <a:srgbClr val="7AA6DE"/>
          </a:solidFill>
          <a:ln/>
        </p:spPr>
      </p:sp>
      <p:sp>
        <p:nvSpPr>
          <p:cNvPr id="16" name="Text 14"/>
          <p:cNvSpPr/>
          <p:nvPr/>
        </p:nvSpPr>
        <p:spPr>
          <a:xfrm>
            <a:off x="6572250" y="6263580"/>
            <a:ext cx="37967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政府機構、公部門法人 8%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（10/127）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210300" y="6835080"/>
            <a:ext cx="190500" cy="190500"/>
          </a:xfrm>
          <a:prstGeom prst="rect">
            <a:avLst/>
          </a:prstGeom>
          <a:solidFill>
            <a:srgbClr val="4A6F9E"/>
          </a:solidFill>
          <a:ln/>
        </p:spPr>
      </p:sp>
      <p:sp>
        <p:nvSpPr>
          <p:cNvPr id="18" name="Text 16"/>
          <p:cNvSpPr/>
          <p:nvPr/>
        </p:nvSpPr>
        <p:spPr>
          <a:xfrm>
            <a:off x="6572250" y="6777930"/>
            <a:ext cx="3467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媒體或事實查核單位 4%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（5/127）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210300" y="7349430"/>
            <a:ext cx="190500" cy="190500"/>
          </a:xfrm>
          <a:prstGeom prst="rect">
            <a:avLst/>
          </a:prstGeom>
          <a:solidFill>
            <a:srgbClr val="8A8A85"/>
          </a:solidFill>
          <a:ln/>
        </p:spPr>
      </p:sp>
      <p:sp>
        <p:nvSpPr>
          <p:cNvPr id="20" name="Text 18"/>
          <p:cNvSpPr/>
          <p:nvPr/>
        </p:nvSpPr>
        <p:spPr>
          <a:xfrm>
            <a:off x="6572250" y="7292280"/>
            <a:ext cx="18536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 5%</a:t>
            </a:r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（6/127）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655326" y="1763911"/>
            <a:ext cx="5870674" cy="7761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112526" y="3723382"/>
            <a:ext cx="5104962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年齡集中在 31 到 50 歲，兩者合計將近三分之二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12526" y="4439543"/>
            <a:ext cx="2154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65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35%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2112526" y="5468243"/>
            <a:ext cx="215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31–40 歲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604653" y="4439543"/>
            <a:ext cx="2154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65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29%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4604653" y="5468243"/>
            <a:ext cx="215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41–50 歲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112526" y="6230243"/>
            <a:ext cx="4956274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12112526" y="6696968"/>
            <a:ext cx="510496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關心公民科技的人分散在很不一樣的職業與組織裡，不是集中在特定行業。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795403" y="9477375"/>
            <a:ext cx="806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雙北佔六成，但這群人的連結伸得更遠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762000" y="3126730"/>
            <a:ext cx="8001000" cy="4959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0" y="3937843"/>
            <a:ext cx="7848600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雙北合計 62%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（79/127）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25000" y="4627364"/>
            <a:ext cx="7848600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但另外問「還跟哪些地區有比較深的連結」，63 人填答：34 人提到中南部或東部，14 人提到海外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0" y="5739705"/>
            <a:ext cx="7848600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即使住在雙北的 79 人裡，也有 20 人同時與中南部或東部有深度連結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5000" y="6429226"/>
            <a:ext cx="7848600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規劃地方場次時，不必然要在當地重新找人，也可以從既有參與者的地緣連結出發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795403" y="9477375"/>
            <a:ext cx="806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公民科技不等於 g0v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916311"/>
            <a:ext cx="5283101" cy="6054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219200" y="2449711"/>
            <a:ext cx="480557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65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47%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219200" y="3630811"/>
            <a:ext cx="436870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907036"/>
            <a:ext cx="4499762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全體從來沒參加過任何 g0v 活動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（60/127）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02301" y="1916311"/>
            <a:ext cx="5283250" cy="6054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59501" y="2449711"/>
            <a:ext cx="480573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65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28%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6959501" y="3630811"/>
            <a:ext cx="4368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0" name="Text 8"/>
          <p:cNvSpPr/>
          <p:nvPr/>
        </p:nvSpPr>
        <p:spPr>
          <a:xfrm>
            <a:off x="6959501" y="3907036"/>
            <a:ext cx="4499915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做過專案的人裡，從未參加過 g0v 活動 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（13/47）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242750" y="1916311"/>
            <a:ext cx="5283250" cy="6054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699950" y="2449711"/>
            <a:ext cx="449991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91"/>
              </a:lnSpc>
              <a:buNone/>
            </a:pPr>
            <a:r>
              <a:rPr lang="en-US" sz="66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59% &gt; 54%</a:t>
            </a:r>
            <a:endParaRPr lang="en-US" sz="6600" dirty="0"/>
          </a:p>
        </p:txBody>
      </p:sp>
      <p:sp>
        <p:nvSpPr>
          <p:cNvPr id="13" name="Shape 11"/>
          <p:cNvSpPr/>
          <p:nvPr/>
        </p:nvSpPr>
        <p:spPr>
          <a:xfrm>
            <a:off x="12699950" y="4392811"/>
            <a:ext cx="4368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12699950" y="4669036"/>
            <a:ext cx="4499915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得知資訊的來源，非營利組織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（75/127） 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高於開源社群含 g0v 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（68/127）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504039"/>
            <a:ext cx="1373505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g0v 是這個生態系裡很重要的節點，但不是唯一入口。如果只用「參加過幾次 g0v 活動」判斷一個人有多投入公民科技，會漏掉不少實際做過專案、卻沒怎麼接觸 g0v 的人。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287155" y="9477375"/>
            <a:ext cx="13627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人與 47 人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將近半數只擔任一種角色，只有 10 個人身兼五種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762000" y="4365278"/>
            <a:ext cx="8728323" cy="24821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52323" y="3062288"/>
            <a:ext cx="9525" cy="5088136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" name="Text 2"/>
          <p:cNvSpPr/>
          <p:nvPr/>
        </p:nvSpPr>
        <p:spPr>
          <a:xfrm>
            <a:off x="10795248" y="3062288"/>
            <a:ext cx="740382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65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46 人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0795248" y="4090987"/>
            <a:ext cx="74038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只勾一種角色（46%）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95248" y="4843463"/>
            <a:ext cx="740382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65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人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10795248" y="5872163"/>
            <a:ext cx="74038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勾滿全部五種（10%）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95248" y="6624638"/>
            <a:ext cx="74038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這兩個數字不在左圖內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10795248" y="7281863"/>
            <a:ext cx="693267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一大群人只固定做一件事，一小群人幾乎什麼都做，中間的分布並不平均。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366778" y="9477375"/>
            <a:ext cx="12354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101 人・複選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4" name="Shape 11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最淺的「接收資訊」就佔四成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762000" y="3498652"/>
            <a:ext cx="8728323" cy="4215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2323" y="3937843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五個選項依</a:t>
            </a:r>
            <a:pPr algn="l" indent="0" marL="0">
              <a:lnSpc>
                <a:spcPct val="126857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對專案方向的決定權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由小到大排列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52323" y="4627364"/>
            <a:ext cx="7099457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接收資訊 41%、主動通報 13%、協力參與 11%、共創解法 20%、發起專案 10%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52323" y="5739705"/>
            <a:ext cx="7099457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這不是逐級遞減的階梯：共創解法（20 人）比它前面的協力參與（11 人）還多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52323" y="6852047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五項加總是 95%，另有 6 人選「以上都不太像我」，不在這條軸上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366778" y="9477375"/>
            <a:ext cx="12354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101 人・單選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拖垮專案的不是找不到夥伴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686960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938213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673548"/>
            <a:ext cx="108585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93345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排名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847850" y="2673548"/>
            <a:ext cx="1022985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1847850" y="1954411"/>
            <a:ext cx="103081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困難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2077700" y="2673548"/>
            <a:ext cx="29337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0" name="Text 8"/>
          <p:cNvSpPr/>
          <p:nvPr/>
        </p:nvSpPr>
        <p:spPr>
          <a:xfrm>
            <a:off x="13944600" y="1954411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卡住進度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058650" y="2259211"/>
            <a:ext cx="2724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級量表評 3 分以上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5011400" y="2673548"/>
            <a:ext cx="25146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3" name="Text 11"/>
          <p:cNvSpPr/>
          <p:nvPr/>
        </p:nvSpPr>
        <p:spPr>
          <a:xfrm>
            <a:off x="16897350" y="1954411"/>
            <a:ext cx="70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想退出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11400" y="2259211"/>
            <a:ext cx="25146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 4 分以上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62000" y="2702123"/>
            <a:ext cx="16764000" cy="1196429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889028"/>
            <a:ext cx="1085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49773"/>
            <a:ext cx="781050" cy="72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847850" y="3889028"/>
            <a:ext cx="10229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9" name="Text 17"/>
          <p:cNvSpPr/>
          <p:nvPr/>
        </p:nvSpPr>
        <p:spPr>
          <a:xfrm>
            <a:off x="2076450" y="2949773"/>
            <a:ext cx="10079546" cy="72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專案難有穩定進度，容易停滯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077700" y="3889028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1" name="Text 19"/>
          <p:cNvSpPr/>
          <p:nvPr/>
        </p:nvSpPr>
        <p:spPr>
          <a:xfrm>
            <a:off x="12218289" y="2949773"/>
            <a:ext cx="2564511" cy="72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38%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（18/47）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011400" y="3889028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3" name="Text 21"/>
          <p:cNvSpPr/>
          <p:nvPr/>
        </p:nvSpPr>
        <p:spPr>
          <a:xfrm>
            <a:off x="15163800" y="2949773"/>
            <a:ext cx="2209800" cy="72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（6/47）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2000" y="3898553"/>
            <a:ext cx="16764000" cy="1182439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5071467"/>
            <a:ext cx="1085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46203"/>
            <a:ext cx="781050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847850" y="5071467"/>
            <a:ext cx="10229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2076450" y="4146203"/>
            <a:ext cx="10079546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做出來的成果很難真正發揮影響力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2077700" y="5071467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12218289" y="4146203"/>
            <a:ext cx="2564511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36%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（17/47）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011400" y="5071467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2" name="Text 30"/>
          <p:cNvSpPr/>
          <p:nvPr/>
        </p:nvSpPr>
        <p:spPr>
          <a:xfrm>
            <a:off x="15163800" y="4146203"/>
            <a:ext cx="2209800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（6/47）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62000" y="6253907"/>
            <a:ext cx="1085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328642"/>
            <a:ext cx="781050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847850" y="6253907"/>
            <a:ext cx="10229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6" name="Text 34"/>
          <p:cNvSpPr/>
          <p:nvPr/>
        </p:nvSpPr>
        <p:spPr>
          <a:xfrm>
            <a:off x="2076450" y="5328642"/>
            <a:ext cx="10079546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核心成員累垮，常常一個人撐住整個專案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2077700" y="6253907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8" name="Text 36"/>
          <p:cNvSpPr/>
          <p:nvPr/>
        </p:nvSpPr>
        <p:spPr>
          <a:xfrm>
            <a:off x="12218289" y="5328642"/>
            <a:ext cx="2564511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（15/47）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011400" y="6253907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0" name="Text 38"/>
          <p:cNvSpPr/>
          <p:nvPr/>
        </p:nvSpPr>
        <p:spPr>
          <a:xfrm>
            <a:off x="15163800" y="5328642"/>
            <a:ext cx="2209800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（6/47）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62000" y="7436346"/>
            <a:ext cx="1085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6511082"/>
            <a:ext cx="781050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847850" y="7436346"/>
            <a:ext cx="10229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4" name="Text 42"/>
          <p:cNvSpPr/>
          <p:nvPr/>
        </p:nvSpPr>
        <p:spPr>
          <a:xfrm>
            <a:off x="2076450" y="6511082"/>
            <a:ext cx="10079546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找不到願意一起做的夥伴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2077700" y="7436346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6" name="Text 44"/>
          <p:cNvSpPr/>
          <p:nvPr/>
        </p:nvSpPr>
        <p:spPr>
          <a:xfrm>
            <a:off x="12218289" y="6511082"/>
            <a:ext cx="2564511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（11/47）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011400" y="7436346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8" name="Text 46"/>
          <p:cNvSpPr/>
          <p:nvPr/>
        </p:nvSpPr>
        <p:spPr>
          <a:xfrm>
            <a:off x="15163800" y="6511082"/>
            <a:ext cx="2209800" cy="71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（4/47）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762000" y="8619232"/>
            <a:ext cx="1085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7693521"/>
            <a:ext cx="781050" cy="716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847850" y="8619232"/>
            <a:ext cx="102298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2" name="Text 50"/>
          <p:cNvSpPr/>
          <p:nvPr/>
        </p:nvSpPr>
        <p:spPr>
          <a:xfrm>
            <a:off x="2076450" y="7693521"/>
            <a:ext cx="10079546" cy="716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公務員不信任你、不願給你需要的資訊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2077700" y="8619232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4" name="Text 52"/>
          <p:cNvSpPr/>
          <p:nvPr/>
        </p:nvSpPr>
        <p:spPr>
          <a:xfrm>
            <a:off x="12218289" y="7693521"/>
            <a:ext cx="2564511" cy="716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（9/47）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5011400" y="8619232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6" name="Text 54"/>
          <p:cNvSpPr/>
          <p:nvPr/>
        </p:nvSpPr>
        <p:spPr>
          <a:xfrm>
            <a:off x="15163800" y="7693521"/>
            <a:ext cx="2209800" cy="716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（4/47）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762000" y="9090720"/>
            <a:ext cx="147161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這三件事會互相加乘。節奏斷掉讓成果遲遲出不來，成果出不來就更難證明值得投入，於是更少人願意接手，最後又回到少數人身上。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6874728" y="9477375"/>
            <a:ext cx="7274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0" name="Shape 58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1" name="Shape 59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將近三分之一的人，手上一個進行中的專案都沒有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62000" y="3348930"/>
            <a:ext cx="838200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517"/>
              </a:lnSpc>
              <a:buNone/>
            </a:pPr>
            <a:r>
              <a:rPr lang="en-US" sz="150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0" y="4547295"/>
            <a:ext cx="863346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公民科技專案多半靠大家用工作之餘的時間推進，很少有人全職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0" y="5248275"/>
            <a:ext cx="863346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常見的樣子是：某段時間熱血衝刺、進度飛快，接著進入很長一段幾乎沒有動靜的低度運作期，有些就這樣停下來不再重啟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6383536"/>
            <a:ext cx="863346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做過專案的人裡，有 32%</a:t>
            </a:r>
            <a:pPr algn="l" indent="0" marL="0">
              <a:lnSpc>
                <a:spcPct val="130286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（15/47）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在填答當下手上一個進行中的專案都沒有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874728" y="9477375"/>
            <a:ext cx="7274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決定權越大的人，越容易被累垮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56867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80010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80124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你在專案裡的位置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763000" y="2435423"/>
            <a:ext cx="29337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8991600" y="1954411"/>
            <a:ext cx="25645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決定權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696700" y="2435423"/>
            <a:ext cx="29337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0" name="Text 8"/>
          <p:cNvSpPr/>
          <p:nvPr/>
        </p:nvSpPr>
        <p:spPr>
          <a:xfrm>
            <a:off x="11837289" y="1954411"/>
            <a:ext cx="25645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核心成員累垮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4630400" y="2435423"/>
            <a:ext cx="28956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2" name="Text 10"/>
          <p:cNvSpPr/>
          <p:nvPr/>
        </p:nvSpPr>
        <p:spPr>
          <a:xfrm>
            <a:off x="14772132" y="1954411"/>
            <a:ext cx="27538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成果難發揮影響力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4127450"/>
            <a:ext cx="8001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730698"/>
            <a:ext cx="8012430" cy="116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協力參與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：加入別人發起的專案，大方向由發起的人決定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763000" y="4127450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Shape 14"/>
          <p:cNvSpPr/>
          <p:nvPr/>
        </p:nvSpPr>
        <p:spPr>
          <a:xfrm>
            <a:off x="8991600" y="3248025"/>
            <a:ext cx="381000" cy="1143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9486900" y="3152775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最小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696700" y="4127450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37289" y="2730698"/>
            <a:ext cx="2564511" cy="116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（1/8）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630400" y="4127450"/>
            <a:ext cx="2895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1" name="Text 19"/>
          <p:cNvSpPr/>
          <p:nvPr/>
        </p:nvSpPr>
        <p:spPr>
          <a:xfrm>
            <a:off x="14543532" y="2730698"/>
            <a:ext cx="2982468" cy="116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（1/8）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62000" y="5781824"/>
            <a:ext cx="8001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4403675"/>
            <a:ext cx="8012430" cy="1149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共創解法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：和大家一起把問題定義清楚、一起設計解法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763000" y="5781824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5" name="Shape 23"/>
          <p:cNvSpPr/>
          <p:nvPr/>
        </p:nvSpPr>
        <p:spPr>
          <a:xfrm>
            <a:off x="8991600" y="4907012"/>
            <a:ext cx="952500" cy="1143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4811762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一半一半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696700" y="5781824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11837289" y="4403675"/>
            <a:ext cx="2564511" cy="1149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（6/18）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4630400" y="5781824"/>
            <a:ext cx="2895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14543532" y="4403675"/>
            <a:ext cx="2982468" cy="1149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44%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（8/18）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62000" y="5791349"/>
            <a:ext cx="16764000" cy="1654522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7436346"/>
            <a:ext cx="8001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6058049"/>
            <a:ext cx="7860030" cy="1149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發起專案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：自己起頭，發現問題、找人、把事情啟動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763000" y="7436346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5" name="Shape 33"/>
          <p:cNvSpPr/>
          <p:nvPr/>
        </p:nvSpPr>
        <p:spPr>
          <a:xfrm>
            <a:off x="8991600" y="6561386"/>
            <a:ext cx="1524000" cy="1143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6" name="Text 34"/>
          <p:cNvSpPr/>
          <p:nvPr/>
        </p:nvSpPr>
        <p:spPr>
          <a:xfrm>
            <a:off x="10629900" y="6466136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最大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696700" y="7436346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8" name="Text 36"/>
          <p:cNvSpPr/>
          <p:nvPr/>
        </p:nvSpPr>
        <p:spPr>
          <a:xfrm>
            <a:off x="11837289" y="6058049"/>
            <a:ext cx="2564511" cy="1149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60%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（6/10）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4630400" y="7436346"/>
            <a:ext cx="2895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0" name="Text 38"/>
          <p:cNvSpPr/>
          <p:nvPr/>
        </p:nvSpPr>
        <p:spPr>
          <a:xfrm>
            <a:off x="14772132" y="6058049"/>
            <a:ext cx="2601468" cy="1149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（5/10）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62000" y="7831634"/>
            <a:ext cx="147161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自己起頭的那 10 個人裡，有 6 個說核心成員累垮明顯卡住了進度；加入別人專案的 8 個人裡，只有 1 個這樣說。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2000" y="8532614"/>
            <a:ext cx="14287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3" name="Text 41"/>
          <p:cNvSpPr/>
          <p:nvPr/>
        </p:nvSpPr>
        <p:spPr>
          <a:xfrm>
            <a:off x="762000" y="8770739"/>
            <a:ext cx="14716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這一頁把「一個人在圈子裡通常的位置」與「他最近那個專案的困擾」放在一起讀，前提是</a:t>
            </a:r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主導性高的人參與頻率也高，兩者多半指向同一個專案 </a:t>
            </a:r>
            <a:pPr algn="l" indent="0" marL="0">
              <a:lnSpc>
                <a:spcPct val="123750"/>
              </a:lnSpc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。報告全文只在這裡跨了這一次。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5779502" y="9477375"/>
            <a:ext cx="19211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各組 8、18、10 人・小樣本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7" name="Shape 4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人脈是最常被用到的資源，比經費還多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762000" y="3523506"/>
            <a:ext cx="8728323" cy="41656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2323" y="4494014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人脈 66%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（31/47）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，高於經費 47%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（22/47）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52323" y="5183535"/>
            <a:ext cx="7099457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接著是公開資料或開放資料 45%、場地 40%、現成的數位工具或平台 36%、政府窗口 34%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52323" y="6295876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另有 23%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（11/47）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表示「主要靠我自己想辦法」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46103" y="9477375"/>
            <a:ext cx="11560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人・複選</a:t>
            </a:r>
            <a:endParaRPr lang="en-US" sz="1125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真正投進專案的專長，寫程式只佔不到三成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762000" y="3511451"/>
            <a:ext cx="8728323" cy="418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2323" y="4360664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議題研究與專案管理並列最多，各 51%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（24/47）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52323" y="5050185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行銷推廣 45%、行政與後勤 40%、文案撰寫 38%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52323" y="5739705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寫程式 28%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（13/47）</a:t>
            </a:r>
            <a:pPr algn="l" indent="0" marL="0">
              <a:lnSpc>
                <a:spcPct val="126857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，排在第六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52323" y="6429226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一個公民科技專案需要的專長，比多數人以為的更廣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46103" y="9477375"/>
            <a:ext cx="11560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人・複選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多數人每個月投入的時間不到五小時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6359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134874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136634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過去 30 天投入的時間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4249400" y="2435423"/>
            <a:ext cx="32766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14379702" y="1954411"/>
            <a:ext cx="31462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2463998"/>
            <a:ext cx="16764000" cy="1425327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879800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30698"/>
            <a:ext cx="13511022" cy="92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到 5 小時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4249400" y="3879800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3" name="Text 11"/>
          <p:cNvSpPr/>
          <p:nvPr/>
        </p:nvSpPr>
        <p:spPr>
          <a:xfrm>
            <a:off x="14379702" y="2730698"/>
            <a:ext cx="2993898" cy="92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（15/47）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62000" y="5289352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156025"/>
            <a:ext cx="13663422" cy="904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到 20 小時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4249400" y="5289352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7" name="Text 15"/>
          <p:cNvSpPr/>
          <p:nvPr/>
        </p:nvSpPr>
        <p:spPr>
          <a:xfrm>
            <a:off x="14151102" y="4156025"/>
            <a:ext cx="3374898" cy="904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（11/47）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62000" y="6698903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565577"/>
            <a:ext cx="13663422" cy="904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幾乎沒有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249400" y="6698903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1" name="Text 19"/>
          <p:cNvSpPr/>
          <p:nvPr/>
        </p:nvSpPr>
        <p:spPr>
          <a:xfrm>
            <a:off x="14151102" y="5565577"/>
            <a:ext cx="3374898" cy="904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（11/47）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62000" y="8108752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6975128"/>
            <a:ext cx="13663422" cy="90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 小時以上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4249400" y="8108752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5" name="Text 23"/>
          <p:cNvSpPr/>
          <p:nvPr/>
        </p:nvSpPr>
        <p:spPr>
          <a:xfrm>
            <a:off x="14151102" y="6975128"/>
            <a:ext cx="3374898" cy="90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（10/47）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62000" y="8656439"/>
            <a:ext cx="147161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超過半數的人一個月投入不到 5 小時，其中將近四分之一在填答當下幾乎沒有投入。當參與者多半用工作之餘的零碎時間推進，進度會時快時慢就不是意外，而是這種投入結構的自然結果。另一頭，有 21% </a:t>
            </a:r>
            <a:pPr algn="l" indent="0" marL="0">
              <a:lnSpc>
                <a:spcPct val="130286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（10/47）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每個月投入 21 小時以上，接近一份兼職。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874728" y="9477375"/>
            <a:ext cx="7274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四成的人動機換過一輪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687711"/>
            <a:ext cx="16764000" cy="6587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687711"/>
            <a:ext cx="16764000" cy="938213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597348"/>
            <a:ext cx="89535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78211"/>
            <a:ext cx="89935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動機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715500" y="2597348"/>
            <a:ext cx="29337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10953750" y="1878211"/>
            <a:ext cx="154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初次投入的契機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96450" y="2183011"/>
            <a:ext cx="2724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幾人勾選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2649200" y="2597348"/>
            <a:ext cx="23622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0" y="1878211"/>
            <a:ext cx="198120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留存率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011400" y="2597348"/>
            <a:ext cx="25146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3" name="Text 11"/>
          <p:cNvSpPr/>
          <p:nvPr/>
        </p:nvSpPr>
        <p:spPr>
          <a:xfrm>
            <a:off x="16897350" y="1878211"/>
            <a:ext cx="70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淨變化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11400" y="2183011"/>
            <a:ext cx="25146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初次→現在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62000" y="3566815"/>
            <a:ext cx="8953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854523"/>
            <a:ext cx="8993505" cy="52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認同這件事想達成的目標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715500" y="3566815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9856089" y="2854523"/>
            <a:ext cx="2564511" cy="52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649200" y="3566815"/>
            <a:ext cx="23622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0" y="2854523"/>
            <a:ext cx="1981200" cy="52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92%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011400" y="3566815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14935200" y="2854523"/>
            <a:ext cx="2590800" cy="52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0%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62000" y="3576340"/>
            <a:ext cx="16764000" cy="938808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4505623"/>
            <a:ext cx="8953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804940"/>
            <a:ext cx="8841105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認同這個社群，想成為一員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715500" y="4505623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7" name="Text 25"/>
          <p:cNvSpPr/>
          <p:nvPr/>
        </p:nvSpPr>
        <p:spPr>
          <a:xfrm>
            <a:off x="9856089" y="3804940"/>
            <a:ext cx="2564511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2649200" y="4505623"/>
            <a:ext cx="23622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0" y="3804940"/>
            <a:ext cx="19812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70%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011400" y="4505623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1" name="Text 29"/>
          <p:cNvSpPr/>
          <p:nvPr/>
        </p:nvSpPr>
        <p:spPr>
          <a:xfrm>
            <a:off x="15163800" y="3804940"/>
            <a:ext cx="22098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B683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−15%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62000" y="5444430"/>
            <a:ext cx="8953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4743748"/>
            <a:ext cx="8993505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純粹覺得好玩、有趣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715500" y="5444430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5" name="Text 33"/>
          <p:cNvSpPr/>
          <p:nvPr/>
        </p:nvSpPr>
        <p:spPr>
          <a:xfrm>
            <a:off x="9856089" y="4743748"/>
            <a:ext cx="2564511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649200" y="5444430"/>
            <a:ext cx="23622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7" name="Text 35"/>
          <p:cNvSpPr/>
          <p:nvPr/>
        </p:nvSpPr>
        <p:spPr>
          <a:xfrm>
            <a:off x="12801600" y="4743748"/>
            <a:ext cx="19812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81%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011400" y="5444430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9" name="Text 37"/>
          <p:cNvSpPr/>
          <p:nvPr/>
        </p:nvSpPr>
        <p:spPr>
          <a:xfrm>
            <a:off x="14935200" y="4743748"/>
            <a:ext cx="25908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−6.3%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762000" y="6383238"/>
            <a:ext cx="8953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5682555"/>
            <a:ext cx="8993505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想認識新朋友、找到同好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715500" y="6383238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3" name="Text 41"/>
          <p:cNvSpPr/>
          <p:nvPr/>
        </p:nvSpPr>
        <p:spPr>
          <a:xfrm>
            <a:off x="9856089" y="5682555"/>
            <a:ext cx="2564511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2649200" y="6383238"/>
            <a:ext cx="23622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5" name="Text 43"/>
          <p:cNvSpPr/>
          <p:nvPr/>
        </p:nvSpPr>
        <p:spPr>
          <a:xfrm>
            <a:off x="12801600" y="5682555"/>
            <a:ext cx="19812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92%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011400" y="6383238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7" name="Text 45"/>
          <p:cNvSpPr/>
          <p:nvPr/>
        </p:nvSpPr>
        <p:spPr>
          <a:xfrm>
            <a:off x="14935200" y="5682555"/>
            <a:ext cx="25908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+15.4%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762000" y="7322046"/>
            <a:ext cx="8953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9" name="Text 47"/>
          <p:cNvSpPr/>
          <p:nvPr/>
        </p:nvSpPr>
        <p:spPr>
          <a:xfrm>
            <a:off x="762000" y="6621363"/>
            <a:ext cx="8993505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身邊有人在做，跟著加入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9715500" y="7322046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1" name="Text 49"/>
          <p:cNvSpPr/>
          <p:nvPr/>
        </p:nvSpPr>
        <p:spPr>
          <a:xfrm>
            <a:off x="9856089" y="6621363"/>
            <a:ext cx="2564511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2649200" y="7322046"/>
            <a:ext cx="23622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3" name="Text 51"/>
          <p:cNvSpPr/>
          <p:nvPr/>
        </p:nvSpPr>
        <p:spPr>
          <a:xfrm>
            <a:off x="12801600" y="6621363"/>
            <a:ext cx="19812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67%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011400" y="7322046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5" name="Text 53"/>
          <p:cNvSpPr/>
          <p:nvPr/>
        </p:nvSpPr>
        <p:spPr>
          <a:xfrm>
            <a:off x="14935200" y="6621363"/>
            <a:ext cx="2590800" cy="51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0%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762000" y="7331571"/>
            <a:ext cx="16764000" cy="939105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57" name="Shape 55"/>
          <p:cNvSpPr/>
          <p:nvPr/>
        </p:nvSpPr>
        <p:spPr>
          <a:xfrm>
            <a:off x="762000" y="8261152"/>
            <a:ext cx="89535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0" y="7560171"/>
            <a:ext cx="884110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累積作品集、練功或建立好名聲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9715500" y="8261152"/>
            <a:ext cx="29337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60" name="Text 58"/>
          <p:cNvSpPr/>
          <p:nvPr/>
        </p:nvSpPr>
        <p:spPr>
          <a:xfrm>
            <a:off x="9856089" y="7560171"/>
            <a:ext cx="2564511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2649200" y="8261152"/>
            <a:ext cx="23622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62" name="Text 60"/>
          <p:cNvSpPr/>
          <p:nvPr/>
        </p:nvSpPr>
        <p:spPr>
          <a:xfrm>
            <a:off x="12801600" y="7560171"/>
            <a:ext cx="1981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83%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011400" y="8261152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64" name="Text 62"/>
          <p:cNvSpPr/>
          <p:nvPr/>
        </p:nvSpPr>
        <p:spPr>
          <a:xfrm>
            <a:off x="15163800" y="7560171"/>
            <a:ext cx="22098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AF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+50.0%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762000" y="8656439"/>
            <a:ext cx="147161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單看總人數，會誤以為大家的動機幾乎沒變。逐人比對後發現，</a:t>
            </a:r>
            <a:pPr algn="l" indent="0" marL="0">
              <a:lnSpc>
                <a:spcPct val="130286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47 人裡有 19 人（40%）動機的組合其實換過 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，只是換進換出剛好讓總數看起來很穩定。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4302978" y="9477375"/>
            <a:ext cx="35453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人・複選・留存率＝前後兩次都選同一動機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9" name="Shape 67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流失最多的是社群歸屬感，淨增加的是「練功」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916311"/>
            <a:ext cx="5334000" cy="6130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8037314"/>
            <a:ext cx="5334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16311"/>
            <a:ext cx="5334000" cy="762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16311"/>
            <a:ext cx="9525" cy="6130528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7" name="Shape 5"/>
          <p:cNvSpPr/>
          <p:nvPr/>
        </p:nvSpPr>
        <p:spPr>
          <a:xfrm>
            <a:off x="6086475" y="1916311"/>
            <a:ext cx="9525" cy="6130528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4290120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流失最多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90625" y="4871145"/>
            <a:ext cx="461105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「認同這個社群、想成為一員」20 人裡有 6 人後來不再選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77000" y="1916311"/>
            <a:ext cx="5334000" cy="6130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77000" y="8037314"/>
            <a:ext cx="5334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0" y="1916311"/>
            <a:ext cx="5334000" cy="76200"/>
          </a:xfrm>
          <a:prstGeom prst="rect">
            <a:avLst/>
          </a:prstGeom>
          <a:solidFill>
            <a:srgbClr val="8A8A8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916311"/>
            <a:ext cx="9525" cy="6130528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01475" y="1916311"/>
            <a:ext cx="9525" cy="6130528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5" name="Text 13"/>
          <p:cNvSpPr/>
          <p:nvPr/>
        </p:nvSpPr>
        <p:spPr>
          <a:xfrm>
            <a:off x="6905625" y="4290120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最需要中途找到自己的理由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905625" y="4871145"/>
            <a:ext cx="461105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「身邊有人在做，跟著加入」12 人裡有 4 人後來換了理由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192000" y="1916311"/>
            <a:ext cx="5334000" cy="6130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92000" y="8037314"/>
            <a:ext cx="53340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9" name="Shape 17"/>
          <p:cNvSpPr/>
          <p:nvPr/>
        </p:nvSpPr>
        <p:spPr>
          <a:xfrm>
            <a:off x="12192000" y="1916311"/>
            <a:ext cx="5334000" cy="762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92000" y="1916311"/>
            <a:ext cx="9525" cy="6130528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1" name="Shape 19"/>
          <p:cNvSpPr/>
          <p:nvPr/>
        </p:nvSpPr>
        <p:spPr>
          <a:xfrm>
            <a:off x="17516475" y="1916311"/>
            <a:ext cx="9525" cy="6130528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12620625" y="4290120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淨增加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620625" y="4871145"/>
            <a:ext cx="461105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「累積作品集、練功」6 人變成 9 人；「想認識新朋友」13 人變成 15 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8656439"/>
            <a:ext cx="147161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社群歸屬感在剛加入時也是不少人選的理由，但不像認同目標那樣持久，不足以單獨把人留住。若要維繫長期參與者，得同時提供「這件事值得做」與「我在這裡有所成長」兩種理由。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874728" y="9477375"/>
            <a:ext cx="7274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擋住新人的是資訊，不是技術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3469184"/>
            <a:ext cx="8728323" cy="4274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2323" y="3842593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不知道有哪些專案或議題可以參與 62%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（16/26）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52323" y="4513064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身邊沒有人帶、怕融不進去或幫不上忙 54%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（14/26）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52323" y="5183535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不知道怎麼加入、找不到入口 50%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（13/26）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52323" y="5854005"/>
            <a:ext cx="7099457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「覺得要會寫程式、技術門檻太高」只排到第四，35%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（9/26）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52323" y="6524476"/>
            <a:ext cx="7099457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排前面的三個原因都跟「資訊」與「有沒有人帶」有關，不是「能力夠不夠」的問題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445680" y="9477375"/>
            <a:ext cx="2288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26 人・小樣本・最多選 3 個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2" name="Shape 9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收得到消息，不等於知道可以做什麼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25811"/>
            <a:ext cx="8235107" cy="75705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1100" y="4229993"/>
            <a:ext cx="7396907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0" y="4901505"/>
            <a:ext cx="2843957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Shape 4"/>
          <p:cNvSpPr/>
          <p:nvPr/>
        </p:nvSpPr>
        <p:spPr>
          <a:xfrm>
            <a:off x="4025057" y="4901505"/>
            <a:ext cx="249555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7" name="Text 5"/>
          <p:cNvSpPr/>
          <p:nvPr/>
        </p:nvSpPr>
        <p:spPr>
          <a:xfrm>
            <a:off x="4101257" y="4420493"/>
            <a:ext cx="22669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至少用到一個官方管道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20607" y="4901505"/>
            <a:ext cx="20574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9" name="Text 7"/>
          <p:cNvSpPr/>
          <p:nvPr/>
        </p:nvSpPr>
        <p:spPr>
          <a:xfrm>
            <a:off x="6596807" y="4420493"/>
            <a:ext cx="19812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有靠親友推薦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81100" y="4930080"/>
            <a:ext cx="7396907" cy="933450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1" name="Shape 9"/>
          <p:cNvSpPr/>
          <p:nvPr/>
        </p:nvSpPr>
        <p:spPr>
          <a:xfrm>
            <a:off x="1181100" y="5854005"/>
            <a:ext cx="2843957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5234880"/>
            <a:ext cx="262447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全體 127 人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025057" y="5854005"/>
            <a:ext cx="24955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4101257" y="5234880"/>
            <a:ext cx="2266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65%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（83/127）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20607" y="5854005"/>
            <a:ext cx="205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6596807" y="5234880"/>
            <a:ext cx="1828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（51/127）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81100" y="6777930"/>
            <a:ext cx="2843957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6168330"/>
            <a:ext cx="277687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做過專案的 47 人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025057" y="6777930"/>
            <a:ext cx="249555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4101257" y="6168330"/>
            <a:ext cx="2266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72%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（34/47）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520607" y="6777930"/>
            <a:ext cx="205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4407" y="6168330"/>
            <a:ext cx="2133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47%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（22/47）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682907" y="1725811"/>
            <a:ext cx="7843093" cy="75705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2007" y="4168229"/>
            <a:ext cx="7215040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把社群帳號、Slack、電子報、LINE 群組、活動彙整網頁合起來算，同一個人不管勾了其中幾個都只算一次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02007" y="5299621"/>
            <a:ext cx="7215040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官方管道觸及到的人明顯比親友推薦多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02007" y="6008191"/>
            <a:ext cx="7215040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全體填答者裡有 65% 從至少一個官方管道接收消息，但光是收得到消息，不等於知道可以做什麼、有人可以問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858530" y="9477375"/>
            <a:ext cx="18342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人與 47 人・複選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出資端最看重「問題講得夠清楚」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686960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134874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136634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評估一個專案時最看重的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4249400" y="2435423"/>
            <a:ext cx="32766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14379702" y="1954411"/>
            <a:ext cx="31462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2463998"/>
            <a:ext cx="16764000" cy="1037481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491954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11648"/>
            <a:ext cx="13511022" cy="57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它要解決的問題夠重要、而且講得夠清楚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4249400" y="3491954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3" name="Text 11"/>
          <p:cNvSpPr/>
          <p:nvPr/>
        </p:nvSpPr>
        <p:spPr>
          <a:xfrm>
            <a:off x="14379702" y="2711648"/>
            <a:ext cx="2993898" cy="57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59%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（16/27）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62000" y="3501479"/>
            <a:ext cx="16764000" cy="1025426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517380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49129"/>
            <a:ext cx="13511022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呼應我自己關心的議題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4249400" y="4517380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14379702" y="3749129"/>
            <a:ext cx="2993898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52%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（14/27）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62000" y="5542806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774555"/>
            <a:ext cx="13663422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團隊或發起人的能力和信譽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4249400" y="5542806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14151102" y="4774555"/>
            <a:ext cx="3374898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44%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（12/27）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62000" y="6568232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5799981"/>
            <a:ext cx="13663422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預期能產生看得到、而且能被衡量的影響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4249400" y="6568232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14151102" y="5799981"/>
            <a:ext cx="3374898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44%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（12/27）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62000" y="7593657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6825407"/>
            <a:ext cx="13663422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專案有長期維持下去的規劃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4249400" y="7593657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14151102" y="6825407"/>
            <a:ext cx="3374898" cy="55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41%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（11/27）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62000" y="8619232"/>
            <a:ext cx="13487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7850832"/>
            <a:ext cx="13663422" cy="55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當時剛好有預算或資源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4249400" y="8619232"/>
            <a:ext cx="3276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4" name="Text 32"/>
          <p:cNvSpPr/>
          <p:nvPr/>
        </p:nvSpPr>
        <p:spPr>
          <a:xfrm>
            <a:off x="14151102" y="7850832"/>
            <a:ext cx="3374898" cy="55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26%</a:t>
            </a:r>
            <a:pPr algn="r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（7/27）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62000" y="9090720"/>
            <a:ext cx="147161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排在最前面的兩項都跟「這件事本身值不值得做」有關，而不是團隊有多強或成果有多漂亮。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445680" y="9477375"/>
            <a:ext cx="2288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27 人・小樣本・最多選 3 個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最缺資源的時候，剛好也是最需要把問題說明白的時候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2068711"/>
            <a:ext cx="5384750" cy="6260009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1181100" y="4238625"/>
            <a:ext cx="50012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還在很早期、只有想法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1100" y="4838700"/>
            <a:ext cx="5001205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71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52%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81100" y="5920680"/>
            <a:ext cx="50012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（14/27）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6451550" y="2068711"/>
            <a:ext cx="5384750" cy="626000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80175" y="4238625"/>
            <a:ext cx="498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已經上線要長期維運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80175" y="4838700"/>
            <a:ext cx="498025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71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37%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80175" y="5920680"/>
            <a:ext cx="49802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（10/27）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12141101" y="2068711"/>
            <a:ext cx="5384750" cy="626000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69726" y="4238625"/>
            <a:ext cx="498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已有原型、要往落地走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69726" y="4838700"/>
            <a:ext cx="498025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71"/>
              </a:lnSpc>
              <a:buNone/>
            </a:pPr>
            <a:r>
              <a:rPr lang="en-US" sz="72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569726" y="5920680"/>
            <a:ext cx="49802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（3/27）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62000" y="9090720"/>
            <a:ext cx="147161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在只有想法的階段，能拿出來說服人的往往就只有問題本身。早期專案最缺的資源，可能同時也是最需要把問題說明白才拿得到的資源。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303228" y="9477375"/>
            <a:ext cx="13450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27 人・小樣本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五個方法論主題，全部落在「魅力型」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1115318" y="2367855"/>
            <a:ext cx="7893248" cy="6476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47684" y="3543598"/>
            <a:ext cx="7310082" cy="1306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狩野模型 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（Kano model）：對每個主題問「有這樣一篇文章你感覺如何」與「沒有你感覺如何」，交叉後分成魅力型（有了會驚喜，沒有也不會抱怨）、期望型、基本型（沒有會不滿）、無差別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047684" y="5059710"/>
            <a:ext cx="7310082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五個主題全部落在魅力型，沒有任何一個是基本型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47684" y="5730180"/>
            <a:ext cx="7310082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其中「怎麼讓做好的東西真正落地、接進體制」最接近期望型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47684" y="6400651"/>
            <a:ext cx="7310082" cy="1306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全部落在魅力型這件事本身就是一個結論 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：寫了都會讓社群覺得有價值，但都還不到「不寫會被抱怨」的程度。內容規劃有相當大的空間，可以挑最能加分的先做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795403" y="9477375"/>
            <a:ext cx="806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126 人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每一段卡住的地方不同，需要的東西也不同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776108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29718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27561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走到哪一段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733800" y="2435423"/>
            <a:ext cx="85344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4038600" y="1954411"/>
            <a:ext cx="81808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卡住的地方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2268200" y="2435423"/>
            <a:ext cx="52578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0" y="1954411"/>
            <a:ext cx="51107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這一段的人需要什麼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62000" y="3878907"/>
            <a:ext cx="2971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711648"/>
            <a:ext cx="2756154" cy="9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還沒進來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733800" y="3878907"/>
            <a:ext cx="8534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4038600" y="2711648"/>
            <a:ext cx="8180832" cy="9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不知道有哪些專案或議題 62%、不知道從哪裡加入 50%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68200" y="3878907"/>
            <a:ext cx="5257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0" y="2711648"/>
            <a:ext cx="5110734" cy="9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一個看得到全貌、能找到入口的地方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62000" y="5286821"/>
            <a:ext cx="2971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136082"/>
            <a:ext cx="2756154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想進來但沒人帶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733800" y="5286821"/>
            <a:ext cx="8534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4038600" y="4136082"/>
            <a:ext cx="8180832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身邊沒有人帶、怕融不進去或幫不上忙 54%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2268200" y="5286821"/>
            <a:ext cx="5257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0" y="4136082"/>
            <a:ext cx="5110734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有人可以問、可以跟著做的場合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62000" y="6694736"/>
            <a:ext cx="2971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5543996"/>
            <a:ext cx="2756154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開始動手做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733800" y="6694736"/>
            <a:ext cx="8534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4038600" y="5543996"/>
            <a:ext cx="8180832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五個方法論主題全部落在魅力型，「怎麼讓成果真正落地」最強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268200" y="6694736"/>
            <a:ext cx="5257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12573000" y="5543996"/>
            <a:ext cx="5110734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把別人怎麼做的經驗寫成可以照著走的內容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2000" y="8102650"/>
            <a:ext cx="2971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6951911"/>
            <a:ext cx="2756154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做的過程中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3733800" y="8102650"/>
            <a:ext cx="8534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2" name="Text 30"/>
          <p:cNvSpPr/>
          <p:nvPr/>
        </p:nvSpPr>
        <p:spPr>
          <a:xfrm>
            <a:off x="4038600" y="6951911"/>
            <a:ext cx="8180832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不知道去哪找資料與工具（群眾協力 61%、AI 應用 54%）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2268200" y="8102650"/>
            <a:ext cx="5257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4" name="Text 32"/>
          <p:cNvSpPr/>
          <p:nvPr/>
        </p:nvSpPr>
        <p:spPr>
          <a:xfrm>
            <a:off x="12573000" y="6951911"/>
            <a:ext cx="5110734" cy="941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各領域、各類工具有哪些現成資源的整理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62000" y="9510713"/>
            <a:ext cx="2971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359825"/>
            <a:ext cx="2756154" cy="941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一路上都會遇到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3733800" y="9510713"/>
            <a:ext cx="8534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8" name="Text 36"/>
          <p:cNvSpPr/>
          <p:nvPr/>
        </p:nvSpPr>
        <p:spPr>
          <a:xfrm>
            <a:off x="4038600" y="8359825"/>
            <a:ext cx="8180832" cy="941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進度停滯 38%、成果難發揮影響力 36%、核心成員累垮 32%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268200" y="9510713"/>
            <a:ext cx="52578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40" name="Text 38"/>
          <p:cNvSpPr/>
          <p:nvPr/>
        </p:nvSpPr>
        <p:spPr>
          <a:xfrm>
            <a:off x="12573000" y="8359825"/>
            <a:ext cx="5110734" cy="941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怎麼維持節奏、怎麼分攤負荷的經驗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163485" y="9553575"/>
            <a:ext cx="53625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前兩列分母 26 人・小樣本・最多選 3 個｜第四列最多選 3 個｜末列分母 47 人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4" name="Shape 42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兩件事最值得先做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840111"/>
            <a:ext cx="8153400" cy="768488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4925" y="2383036"/>
            <a:ext cx="77743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 讓人找得到專案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04925" y="5526286"/>
            <a:ext cx="7279577" cy="1775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擋住新人的頭號原因是不知道有哪些專案或議題可以參與，而不是能力不夠。g0v 揪松團經營的 </a:t>
            </a:r>
            <a:pPr algn="l" indent="0" marL="0">
              <a:lnSpc>
                <a:spcPct val="130286"/>
              </a:lnSpc>
              <a:buNone/>
            </a:pPr>
            <a:r>
              <a:rPr lang="en-US" sz="1800" u="sng" dirty="0">
                <a:solidFill>
                  <a:srgbClr val="2A78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台灣公民科技資料庫 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本來就在做這件事。重點不是再多做一個地方，而是既有的內容要能被還沒進門的人找到、看得懂、知道從哪裡接上。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72600" y="1840111"/>
            <a:ext cx="8153400" cy="768488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5525" y="2383036"/>
            <a:ext cx="77743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第二 把「成果如何落地」寫清楚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15525" y="5526286"/>
            <a:ext cx="7279577" cy="13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這是五個方法論主題裡最強的一個，也對應到第二大的困難「做出來的成果很難真正發揮影響力」。一個題目在需求排序和實際困難上同時排在前面，代表它不是單一題目的雜訊。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引用這份調查之前，先知道它的邊界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776108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771138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75617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這份調查的邊界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73380" y="2435423"/>
            <a:ext cx="905262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8854380" y="1954411"/>
            <a:ext cx="89431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3642568"/>
            <a:ext cx="771138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692598"/>
            <a:ext cx="7561722" cy="759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只能講這個圈子，不能講全台灣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473380" y="3642568"/>
            <a:ext cx="905262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Text 10"/>
          <p:cNvSpPr/>
          <p:nvPr/>
        </p:nvSpPr>
        <p:spPr>
          <a:xfrm>
            <a:off x="8854380" y="2692598"/>
            <a:ext cx="8943198" cy="759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樣本經 g0v 相關管道發放，回答的人偏向已經對公民科技有一定認識的族群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4816078"/>
            <a:ext cx="771138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880693"/>
            <a:ext cx="7561722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只有相關，沒有因果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473380" y="4816078"/>
            <a:ext cx="905262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8854380" y="3880693"/>
            <a:ext cx="8943198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所有交叉分析都是同一個時間點的橫斷面資料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62000" y="5989588"/>
            <a:ext cx="771138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054203"/>
            <a:ext cx="7561722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雙北佔六成是取樣結果，不是分布事實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473380" y="5989588"/>
            <a:ext cx="905262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8854380" y="5054203"/>
            <a:ext cx="8943198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g0v 的實體活動長期集中在台北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62000" y="7163098"/>
            <a:ext cx="771138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227713"/>
            <a:ext cx="7561722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沒有問到已經離開的人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473380" y="7163098"/>
            <a:ext cx="905262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4" name="Text 22"/>
          <p:cNvSpPr/>
          <p:nvPr/>
        </p:nvSpPr>
        <p:spPr>
          <a:xfrm>
            <a:off x="8854380" y="6227713"/>
            <a:ext cx="8943198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完全離開的人不會來填這份問卷，所以流失可能被低估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62000" y="8336607"/>
            <a:ext cx="771138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7401223"/>
            <a:ext cx="7561722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設了勾選上限的題目，反映的是「有限名額裡誰被優先挑中」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473380" y="8336607"/>
            <a:ext cx="905262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8854380" y="7401223"/>
            <a:ext cx="8943198" cy="7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不等於「有多少人覺得這件事重要」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2000" y="9510713"/>
            <a:ext cx="771138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574732"/>
            <a:ext cx="7561722" cy="745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不到 30 人的分組只能看方向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473380" y="9510713"/>
            <a:ext cx="905262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2" name="Text 30"/>
          <p:cNvSpPr/>
          <p:nvPr/>
        </p:nvSpPr>
        <p:spPr>
          <a:xfrm>
            <a:off x="8854380" y="8574732"/>
            <a:ext cx="8943198" cy="745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還沒接觸的 26 人、曾出資者 27 人、各年齡層與各位置 5 到 19 人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資料公開，歡迎自己重新分析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652670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5699671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54896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你想做什麼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61671" y="2435423"/>
            <a:ext cx="11064329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6842671" y="1954411"/>
            <a:ext cx="110152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去哪裡拿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3922068"/>
            <a:ext cx="56996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730698"/>
            <a:ext cx="5489661" cy="962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讀完整報告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61671" y="3922068"/>
            <a:ext cx="110643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6842671" y="2730698"/>
            <a:ext cx="11015259" cy="962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u="sng" dirty="0">
                <a:solidFill>
                  <a:srgbClr val="2A78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《臺灣公民科技生態系與需求調查報告》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5373439"/>
            <a:ext cx="56996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198293"/>
            <a:ext cx="5489661" cy="946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看每一張圖背後的數據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61671" y="5373439"/>
            <a:ext cx="110643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6842671" y="4198293"/>
            <a:ext cx="11015259" cy="946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u="sng" dirty="0">
                <a:solidFill>
                  <a:srgbClr val="2A78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去識別化後的原始填答與各項分析結果都已公開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62000" y="6824811"/>
            <a:ext cx="56996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649664"/>
            <a:ext cx="5489661" cy="946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找專案、找入口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61671" y="6824811"/>
            <a:ext cx="110643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>
            <a:hlinkClick r:id="rId3" tooltip=""/>
          </p:cNvPr>
          <p:cNvSpPr/>
          <p:nvPr/>
        </p:nvSpPr>
        <p:spPr>
          <a:xfrm>
            <a:off x="6842671" y="5649664"/>
            <a:ext cx="11015259" cy="946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u="sng" dirty="0">
                <a:solidFill>
                  <a:srgbClr val="2A78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台灣公民科技資料庫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62000" y="8276332"/>
            <a:ext cx="56996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7101036"/>
            <a:ext cx="5489661" cy="946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這份調查還在繼續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461671" y="8276332"/>
            <a:ext cx="110643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4" name="Text 22"/>
          <p:cNvSpPr/>
          <p:nvPr/>
        </p:nvSpPr>
        <p:spPr>
          <a:xfrm>
            <a:off x="6842671" y="7101036"/>
            <a:ext cx="11015259" cy="946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問卷持續開放填答，樣本數增加後可以重跑同一套分析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62000" y="8976420"/>
            <a:ext cx="1373505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17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如果你的分析得到不一樣的結論，那對這個生態系的理解是加分，不是減分。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040535"/>
            <a:ext cx="1143000" cy="9525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" name="Shape 1"/>
          <p:cNvSpPr/>
          <p:nvPr/>
        </p:nvSpPr>
        <p:spPr>
          <a:xfrm>
            <a:off x="2133600" y="4040535"/>
            <a:ext cx="1143000" cy="9525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" name="Shape 2"/>
          <p:cNvSpPr/>
          <p:nvPr/>
        </p:nvSpPr>
        <p:spPr>
          <a:xfrm>
            <a:off x="3505200" y="4040535"/>
            <a:ext cx="1143000" cy="9525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669185"/>
            <a:ext cx="1844040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43"/>
              </a:lnSpc>
              <a:buNone/>
            </a:pPr>
            <a:r>
              <a:rPr lang="en-US" sz="5400" b="1" dirty="0">
                <a:solidFill>
                  <a:srgbClr val="FCFCF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模組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62000" y="5865465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依聽眾加掛，M1 到 M10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不同年齡層現在選的理由不一樣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611511"/>
            <a:ext cx="9323933" cy="791348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12393" y="1840111"/>
            <a:ext cx="5422999" cy="74561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619333" y="1611511"/>
            <a:ext cx="6906667" cy="24854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000333" y="2178100"/>
            <a:ext cx="632900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 歲以下（10 人）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00333" y="2707630"/>
            <a:ext cx="6329007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選「累積作品集、練功」40%</a:t>
            </a:r>
            <a:pPr algn="l" indent="0" marL="0">
              <a:lnSpc>
                <a:spcPct val="123429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（4/10） </a:t>
            </a:r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，高於全體的 19% </a:t>
            </a:r>
            <a:pPr algn="l" indent="0" marL="0">
              <a:lnSpc>
                <a:spcPct val="123429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（9/47）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619333" y="4325541"/>
            <a:ext cx="6906667" cy="24854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000333" y="5097810"/>
            <a:ext cx="632900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31 到 40 歲（19 人）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000333" y="5627340"/>
            <a:ext cx="6329007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本頁未特別著墨，見左圖中段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619333" y="7039570"/>
            <a:ext cx="6906667" cy="24854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000333" y="7400479"/>
            <a:ext cx="632900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41 歲以上（18 人）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000333" y="7930009"/>
            <a:ext cx="6329007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「認同目標」一枝獨秀 89%</a:t>
            </a:r>
            <a:pPr algn="l" indent="0" marL="0">
              <a:lnSpc>
                <a:spcPct val="123429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（16/18） </a:t>
            </a:r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，其餘五個理由都落在 2 到 4 人之間；落差最明顯的是「純粹覺得好玩」與「認同這個社群」，分別比全體低 21 與 20 個百分點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652105" y="9477375"/>
            <a:ext cx="20612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各年齡層 10 到 19 人・小樣本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6" name="Shape 13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7" name="Shape 14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入門型與深度型的活動，服務的是不同的人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762000" y="3516511"/>
            <a:ext cx="8599884" cy="4179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47684" y="3754934"/>
            <a:ext cx="7310082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全體排前面：公私協力怎麼談 57%</a:t>
            </a:r>
            <a:pPr algn="l" indent="0" marL="0">
              <a:lnSpc>
                <a:spcPct val="126857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（73/127） </a:t>
            </a:r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、公民科技實戰心法 51%、資料庫入門 49%、用 AI 幫你提案 33%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047684" y="4848225"/>
            <a:ext cx="7310082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但三群人分開看會反過來：資料庫入門在還沒接觸的人裡最受歡迎（69%，18/26），在做過專案的人裡排得比較後面（36%，17/47）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47684" y="5941516"/>
            <a:ext cx="7310082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公私協力怎麼談正好相反：做過專案的人裡最高（62%，29/47），還沒接觸的人裡較低（46%，12/26）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47684" y="7034808"/>
            <a:ext cx="7310082" cy="46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57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辦活動時分開設定對象，可能比把兩種需求混在同一場裡更有效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000708" y="9477375"/>
            <a:ext cx="38778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人・最多選 2 個・還沒接觸那層 26 人為小樣本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還沒動手做過專案的人，感受不到團隊經營的痛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2839045" y="1535311"/>
            <a:ext cx="12609761" cy="71742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8938320"/>
            <a:ext cx="147161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「怎麼捲動更多人參與」和「怎麼留住夥伴」這兩個主題，對還沒接觸的那群人來說落在</a:t>
            </a:r>
            <a:pPr algn="l" indent="0" marL="0">
              <a:lnSpc>
                <a:spcPct val="130286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無差別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，但對另外兩群人都是</a:t>
            </a:r>
            <a:pPr algn="l" indent="0" marL="0">
              <a:lnSpc>
                <a:spcPct val="130286"/>
              </a:lnSpc>
              <a:buNone/>
            </a:pPr>
            <a:r>
              <a:rPr lang="en-US" sz="18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魅力型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731728" y="9705975"/>
            <a:ext cx="197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還沒接觸那層 26 人・小樣本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8" name="Shape 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政府預算決算與標案是最多人想看的領域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4570065" y="1535311"/>
            <a:ext cx="9147721" cy="6739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8504039"/>
            <a:ext cx="147161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政府預算決算與標案 54%</a:t>
            </a:r>
            <a:pPr algn="l" indent="0" marL="0">
              <a:lnSpc>
                <a:spcPct val="130286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（68/127） 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、地方發展與地方創生 47%、防災與災害應變 43%、假訊息與詐騙防治 42%、環境汙染與公害 31%、法律與立法歷程 31%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70682" y="9705975"/>
            <a:ext cx="35808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人・16 選 5・還沒接觸那層 26 人為小樣本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8" name="Shape 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群眾協力與通報工具是最多人想看的工具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1384846" y="1535311"/>
            <a:ext cx="15518309" cy="6739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8504039"/>
            <a:ext cx="147161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群眾協力與通報工具 61%</a:t>
            </a:r>
            <a:pPr algn="l" indent="0" marL="0">
              <a:lnSpc>
                <a:spcPct val="130286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（77/126） </a:t>
            </a:r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、AI 應用 54%、資料視覺化工具 52%、地理資訊與地圖工具 42%、民意蒐集與線上審議工具 33%、怎麼找到現成的研究成果 31%、開放協作知識庫 19%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350008" y="9705975"/>
            <a:ext cx="34935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126 人・7 選 3・還沒接觸那層 26 人為小樣本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8" name="Shape 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社群帳號與親友推薦並列第一，各佔四成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3721298"/>
            <a:ext cx="8728323" cy="37701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2323" y="4937671"/>
            <a:ext cx="7110887" cy="1375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714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g0v 社群帳號（Facebook、Threads、Instagram）40%</a:t>
            </a:r>
            <a:pPr algn="l" indent="0" marL="0">
              <a:lnSpc>
                <a:spcPct val="133714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（51/127） </a:t>
            </a:r>
            <a:pPr algn="l" indent="0" marL="0">
              <a:lnSpc>
                <a:spcPct val="133714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、親友推薦 40% </a:t>
            </a:r>
            <a:pPr algn="l" indent="0" marL="0">
              <a:lnSpc>
                <a:spcPct val="133714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（51/127） </a:t>
            </a:r>
            <a:pPr algn="l" indent="0" marL="0">
              <a:lnSpc>
                <a:spcPct val="133714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、g0v 的 Slack 23%、揪松團每月電子報 19%、揪松團 LINE 群組 12%；另有 11% </a:t>
            </a:r>
            <a:pPr algn="l" indent="0" marL="0">
              <a:lnSpc>
                <a:spcPct val="133714"/>
              </a:lnSpc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（14/127）</a:t>
            </a:r>
            <a:pPr algn="l" indent="0" marL="0">
              <a:lnSpc>
                <a:spcPct val="133714"/>
              </a:lnSpc>
              <a:buNone/>
            </a:pPr>
            <a:r>
              <a:rPr lang="en-US" sz="180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表示「都沒有」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366778" y="9477375"/>
            <a:ext cx="12354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127 人・複選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8" name="Shape 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87756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十三種困難的完整分布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3625155" y="1306711"/>
            <a:ext cx="11037540" cy="8141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27128" y="9744075"/>
            <a:ext cx="7274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47 人</a:t>
            </a:r>
            <a:endParaRPr lang="en-US" sz="1125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7" name="Shape 4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最常見的兩種應對，方向完全相反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6435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142494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144482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面對困難採取的行動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011400" y="2435423"/>
            <a:ext cx="2514600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15163800" y="1954411"/>
            <a:ext cx="23622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2463998"/>
            <a:ext cx="16764000" cy="964406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418880"/>
            <a:ext cx="14249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11648"/>
            <a:ext cx="14295882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向外求助：找人脈、專家或在地組織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011400" y="3418880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3" name="Text 11"/>
          <p:cNvSpPr/>
          <p:nvPr/>
        </p:nvSpPr>
        <p:spPr>
          <a:xfrm>
            <a:off x="15163800" y="2711648"/>
            <a:ext cx="2209800" cy="497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62000" y="3428405"/>
            <a:ext cx="16764000" cy="953095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371975"/>
            <a:ext cx="14249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76055"/>
            <a:ext cx="14295882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降低期待、放慢步調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011400" y="4371975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15163800" y="3676055"/>
            <a:ext cx="2209800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62000" y="5325070"/>
            <a:ext cx="14249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629150"/>
            <a:ext cx="14448282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自己補能力或用工具頂著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011400" y="5325070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14935200" y="4629150"/>
            <a:ext cx="2590800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62000" y="6278166"/>
            <a:ext cx="14249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5582245"/>
            <a:ext cx="14448282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團隊內部溝通、建立固定節奏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011400" y="6278166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14935200" y="5582245"/>
            <a:ext cx="2590800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62000" y="7231261"/>
            <a:ext cx="14249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6535341"/>
            <a:ext cx="14448282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對外推廣、擴大能見度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011400" y="7231261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14935200" y="6535341"/>
            <a:ext cx="2590800" cy="48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62000" y="8184952"/>
            <a:ext cx="142494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7488436"/>
            <a:ext cx="14448282" cy="486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其餘（沒有特別行動、只描述困難、建立文件、交棒淡出）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011400" y="8184952"/>
            <a:ext cx="2514600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4" name="Text 32"/>
          <p:cNvSpPr/>
          <p:nvPr/>
        </p:nvSpPr>
        <p:spPr>
          <a:xfrm>
            <a:off x="14935200" y="7488436"/>
            <a:ext cx="2590800" cy="486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62000" y="8656439"/>
            <a:ext cx="147161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最常見的兩種應對方向完全相反：向外求助（6 人）與降低期待、放慢步調（5 人）。加上「沒有特別行動」與「只描述困難」的 6 人，28 位填答者裡有 11 人屬於沒有主動處理或主動降低期待。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731728" y="9477375"/>
            <a:ext cx="197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分母 28 人・小樣本・選填題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每條結論的另一種解釋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763911"/>
            <a:ext cx="16764000" cy="776108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2000" y="1763911"/>
            <a:ext cx="16764000" cy="700088"/>
          </a:xfrm>
          <a:prstGeom prst="rect">
            <a:avLst/>
          </a:prstGeom>
          <a:solidFill>
            <a:srgbClr val="ECEAE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35423"/>
            <a:ext cx="7376071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54411"/>
            <a:ext cx="72163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本報告的結論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138071" y="2435423"/>
            <a:ext cx="9387929" cy="2857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8519071" y="1954411"/>
            <a:ext cx="92885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另一種可能的解釋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2000" y="3842891"/>
            <a:ext cx="73760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673548"/>
            <a:ext cx="7216353" cy="997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27 位出資者的觀點代表出資端（第 6 章）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138071" y="3842891"/>
            <a:ext cx="93879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2" name="Text 10"/>
          <p:cNvSpPr/>
          <p:nvPr/>
        </p:nvSpPr>
        <p:spPr>
          <a:xfrm>
            <a:off x="8519071" y="2673548"/>
            <a:ext cx="9288567" cy="997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27 人裡有 26 人本身就在圈內，撈得到的出資者本來就會是圈內人，不是基金會、企業或政府等圈外資助者的觀點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4814739"/>
            <a:ext cx="73760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061966"/>
            <a:ext cx="7216353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人脈比經費更常被用到（第 5 章）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138071" y="4814739"/>
            <a:ext cx="93879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6" name="Text 14"/>
          <p:cNvSpPr/>
          <p:nvPr/>
        </p:nvSpPr>
        <p:spPr>
          <a:xfrm>
            <a:off x="8519071" y="4061966"/>
            <a:ext cx="9288567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這題問的是「用過哪些」，</a:t>
            </a:r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用得多也可能只是因為人脈相對容易取得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，不代表經費不重要或不稀缺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62000" y="6190506"/>
            <a:ext cx="73760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033814"/>
            <a:ext cx="7216353" cy="9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社群歸屬感是最容易褪色的動機（第 4 章）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138071" y="6190506"/>
            <a:ext cx="93879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8519071" y="5033814"/>
            <a:ext cx="9288567" cy="9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我們只問得到還留在圈子裡的人。真的被留不住的人早就離開、不會來填問卷，這個流失比例反而可能被低估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62000" y="7566273"/>
            <a:ext cx="73760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409581"/>
            <a:ext cx="7216353" cy="9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41 歲以上以「認同目標」為主要理由（第 4 章）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138071" y="7566273"/>
            <a:ext cx="93879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4" name="Text 22"/>
          <p:cNvSpPr/>
          <p:nvPr/>
        </p:nvSpPr>
        <p:spPr>
          <a:xfrm>
            <a:off x="8519071" y="6409581"/>
            <a:ext cx="9288567" cy="9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可能是</a:t>
            </a:r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世代差異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，也可能是</a:t>
            </a:r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留下來的人本身就被篩選過 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：年紀較長還留在圈內的，本來就比較可能是使命導向的那些人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62000" y="8538121"/>
            <a:ext cx="73760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7785348"/>
            <a:ext cx="7216353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擋住新人的是資訊不是技術（第 7 章）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138071" y="8538121"/>
            <a:ext cx="93879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8" name="Text 26"/>
          <p:cNvSpPr/>
          <p:nvPr/>
        </p:nvSpPr>
        <p:spPr>
          <a:xfrm>
            <a:off x="8519071" y="7785348"/>
            <a:ext cx="9288567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 26 人是</a:t>
            </a:r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已經聽過或看過公民科技、只是還沒實際參與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的人，不是完全沒聽過的一般大眾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2000" y="9510713"/>
            <a:ext cx="7376071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757196"/>
            <a:ext cx="7216353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雙北佔六成（第 1 章）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138071" y="9510713"/>
            <a:ext cx="9387929" cy="9525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2" name="Text 30"/>
          <p:cNvSpPr/>
          <p:nvPr/>
        </p:nvSpPr>
        <p:spPr>
          <a:xfrm>
            <a:off x="8519071" y="8757196"/>
            <a:ext cx="9288567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完全是</a:t>
            </a:r>
            <a:pPr algn="l" indent="0" marL="0">
              <a:buNone/>
            </a:pPr>
            <a:r>
              <a:rPr lang="en-US" sz="165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取樣結果</a:t>
            </a:r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。g0v.tw 的實體活動長期在台北舉辦，不能推論成社群真實的地理分布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8440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5"/>
              </a:lnSpc>
              <a:buNone/>
            </a:pPr>
            <a:r>
              <a:rPr lang="en-US" sz="33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站在決策位置的人，看不見新手的困境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62000" y="1497211"/>
            <a:ext cx="18440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「新手或不會寫程式的人，不知道能幫什麼」比較有感的人數／該組人數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62000" y="2335411"/>
            <a:ext cx="3108871" cy="5635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4096643"/>
            <a:ext cx="26653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主動通報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04900" y="4591943"/>
            <a:ext cx="266537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220"/>
              </a:lnSpc>
              <a:buNone/>
            </a:pPr>
            <a:r>
              <a:rPr lang="en-US" sz="66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33%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04900" y="5590133"/>
            <a:ext cx="26653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（2/6）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104900" y="6056858"/>
            <a:ext cx="2423071" cy="152400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04900" y="6056858"/>
            <a:ext cx="799505" cy="152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Shape 8"/>
          <p:cNvSpPr/>
          <p:nvPr/>
        </p:nvSpPr>
        <p:spPr>
          <a:xfrm>
            <a:off x="4175671" y="2335411"/>
            <a:ext cx="3109020" cy="5635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18571" y="4096643"/>
            <a:ext cx="26655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接收資訊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18571" y="4591943"/>
            <a:ext cx="2665541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220"/>
              </a:lnSpc>
              <a:buNone/>
            </a:pPr>
            <a:r>
              <a:rPr lang="en-US" sz="66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20%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4518571" y="5590133"/>
            <a:ext cx="26655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（1/5）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4518571" y="6056858"/>
            <a:ext cx="2423220" cy="152400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18571" y="6056858"/>
            <a:ext cx="484584" cy="152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490" y="2335411"/>
            <a:ext cx="3108871" cy="5635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2390" y="4096643"/>
            <a:ext cx="26653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協力參與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932390" y="4591943"/>
            <a:ext cx="266537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220"/>
              </a:lnSpc>
              <a:buNone/>
            </a:pPr>
            <a:r>
              <a:rPr lang="en-US" sz="66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12%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7932390" y="5590133"/>
            <a:ext cx="26653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（1/8）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7932390" y="6056858"/>
            <a:ext cx="2423071" cy="152400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2390" y="6056858"/>
            <a:ext cx="290661" cy="152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03161" y="2335411"/>
            <a:ext cx="3109020" cy="5635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346061" y="4096643"/>
            <a:ext cx="26655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發起專案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346061" y="4591943"/>
            <a:ext cx="2665541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220"/>
              </a:lnSpc>
              <a:buNone/>
            </a:pPr>
            <a:r>
              <a:rPr lang="en-US" sz="66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10%</a:t>
            </a:r>
            <a:endParaRPr lang="en-US" sz="6600" dirty="0"/>
          </a:p>
        </p:txBody>
      </p:sp>
      <p:sp>
        <p:nvSpPr>
          <p:cNvPr id="25" name="Text 23"/>
          <p:cNvSpPr/>
          <p:nvPr/>
        </p:nvSpPr>
        <p:spPr>
          <a:xfrm>
            <a:off x="11346061" y="5590133"/>
            <a:ext cx="26655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（1/10）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1346061" y="6056858"/>
            <a:ext cx="2423220" cy="152400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346061" y="6056858"/>
            <a:ext cx="242292" cy="152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16980" y="2335411"/>
            <a:ext cx="3108871" cy="5635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4759880" y="4096643"/>
            <a:ext cx="26653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1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共創解法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759880" y="4591943"/>
            <a:ext cx="266537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220"/>
              </a:lnSpc>
              <a:buNone/>
            </a:pPr>
            <a:r>
              <a:rPr lang="en-US" sz="6600" b="1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0%</a:t>
            </a:r>
            <a:endParaRPr lang="en-US" sz="6600" dirty="0"/>
          </a:p>
        </p:txBody>
      </p:sp>
      <p:sp>
        <p:nvSpPr>
          <p:cNvPr id="31" name="Text 29"/>
          <p:cNvSpPr/>
          <p:nvPr/>
        </p:nvSpPr>
        <p:spPr>
          <a:xfrm>
            <a:off x="14759880" y="5590133"/>
            <a:ext cx="26653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（0/18）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4759880" y="6056858"/>
            <a:ext cx="2423071" cy="152400"/>
          </a:xfrm>
          <a:prstGeom prst="rect">
            <a:avLst/>
          </a:prstGeom>
          <a:solidFill>
            <a:srgbClr val="E4E4E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656439"/>
            <a:ext cx="1569720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86"/>
              </a:lnSpc>
              <a:buNone/>
            </a:pPr>
            <a:r>
              <a:rPr lang="en-US" sz="1800" dirty="0">
                <a:solidFill>
                  <a:srgbClr val="0B0B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「新手或不會寫程式的人，不知道能幫什麼」這題，比較有感的落在淺的那一頭；共創解法那 18 個人裡則是一個都沒有。要規劃「怎麼讓新手參與」的內容，光去問發起專案的人可能問不出來，因為那不是他們會遇到的困難。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017180" y="9477375"/>
            <a:ext cx="16597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A8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各組 5 到 18 人・小樣本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0" y="0"/>
            <a:ext cx="3657600" cy="1143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0"/>
            <a:ext cx="7863780" cy="1143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1380" y="0"/>
            <a:ext cx="6766471" cy="114300"/>
          </a:xfrm>
          <a:prstGeom prst="rect">
            <a:avLst/>
          </a:prstGeom>
          <a:solidFill>
            <a:srgbClr val="2A78D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2026-08-02T13:32:23Z</dcterms:created>
  <dcterms:modified xsi:type="dcterms:W3CDTF">2026-08-02T13:32:23Z</dcterms:modified>
</cp:coreProperties>
</file>